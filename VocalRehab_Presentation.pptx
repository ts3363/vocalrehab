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347472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HEALTHCARE NLP &amp; ASSISTIVE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VocalRehab</a:t>
            </a:r>
          </a:p>
          <a:p>
            <a:pPr>
              <a:spcBef>
                <a:spcPts val="800"/>
              </a:spcBef>
              <a:defRPr sz="2000">
                <a:solidFill>
                  <a:srgbClr val="0D9488"/>
                </a:solidFill>
              </a:defRPr>
            </a:pPr>
            <a:r>
              <a:t>Gamified Minimal-Pair Speech Therapy &amp; Intent-Resilient NLP Translation for Dysarthria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0"/>
            <a:ext cx="106984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PROJECT METADATA &amp; ARCHITECTURE OVERVIEW</a:t>
            </a:r>
          </a:p>
          <a:p>
            <a:pPr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- Core Focus: Contrastive Phonological Therapy + Syllable-Drop Resilient Voice Translation</a:t>
            </a:r>
          </a:p>
          <a:p>
            <a:pPr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- Key Tech Stack: Python 3.14 | Flask | Web Speech API | Multi-Phonetic Embeddings (Soundex, Metaphone, NYSIIS)</a:t>
            </a:r>
          </a:p>
          <a:p>
            <a:pPr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- Benchmark Result: 88% Intent Classification Accuracy across 5 Clinical Severity Tiers (0% - 100% Slurred Speech)</a:t>
            </a:r>
          </a:p>
          <a:p>
            <a:pPr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- Project Repository: https://github.com/ts3363/VocalRehab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VOCALREHAB // SYSTEM ARCHITECTURE &amp;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Statement: The Speech Recognition &amp; Therapy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3756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1. Clinical Dysarthria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- Neuromotor speech disorder resulting from stroke, TBI, Parkinson's, or Cerebral Palsy.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- Articulatory muscle weakness causes slurred speech, imprecise consonants, and hypernasality.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- Expiratory exhaustion leads to involuntary syllable and final-consonant drops.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1463040"/>
            <a:ext cx="333756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2. ASR System Failure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- Commercial ASR (Siri, Alexa, Google) models assume healthy, fluent phonation.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- Word Error Rates (WER) exceed 60% - 80% on dysarthric speech input.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- Inability to distinguish contrastive minimal pairs (e.g. ship vs. sheep) or recognize truncated phrases.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1584" y="1463040"/>
            <a:ext cx="333756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3. Therapy Discontinuity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- Traditional speech therapy is expensive ($100+/hr) and requires travel to physical clinics.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- Repetitive paper drill cards cause high patient boredom and therapy abandonment.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- Lack of objective, longitudinal tracking between weekly speech-pathologist visits.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VOCALREHAB // SYSTEM ARCHITECTURE &amp;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Proposed Solution: Dual-Action Therapeutic &amp; Assistive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🎮 PILLAR 1: Gamified Therapy Engine</a:t>
            </a:r>
          </a:p>
          <a:p>
            <a:pPr>
              <a:spcBef>
                <a:spcPts val="1200"/>
              </a:spcBef>
              <a:defRPr sz="1350">
                <a:solidFill>
                  <a:srgbClr val="F8FAFC"/>
                </a:solidFill>
              </a:defRPr>
            </a:pPr>
            <a:r>
              <a:t>- Minimal-Pair Contrast Tasks: Targets precision between easily confused phonemes (e.g. bat vs. pat).</a:t>
            </a:r>
          </a:p>
          <a:p>
            <a:pPr>
              <a:spcBef>
                <a:spcPts val="1200"/>
              </a:spcBef>
              <a:defRPr sz="1350">
                <a:solidFill>
                  <a:srgbClr val="F8FAFC"/>
                </a:solidFill>
              </a:defRPr>
            </a:pPr>
            <a:r>
              <a:t>- Adaptive Difficulty Staging: Dynamically scales from High-Contrast pairs (Level 1) to Consonant Clusters (Level 3).</a:t>
            </a:r>
          </a:p>
          <a:p>
            <a:pPr>
              <a:spcBef>
                <a:spcPts val="1200"/>
              </a:spcBef>
              <a:defRPr sz="1350">
                <a:solidFill>
                  <a:srgbClr val="F8FAFC"/>
                </a:solidFill>
              </a:defRPr>
            </a:pPr>
            <a:r>
              <a:t>- Instant Anatomical Biofeedback: Automatically diagnoses articulatory error types (initial drop, spirantization) and suggests lip/tongue placements.</a:t>
            </a:r>
          </a:p>
          <a:p>
            <a:pPr>
              <a:spcBef>
                <a:spcPts val="1200"/>
              </a:spcBef>
              <a:defRPr sz="1350">
                <a:solidFill>
                  <a:srgbClr val="F8FAFC"/>
                </a:solidFill>
              </a:defRPr>
            </a:pPr>
            <a:r>
              <a:t>- Engagement Mechanics: Real-time streak multipliers, visual score progression, and celebratory particle animations.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D9488"/>
                </a:solidFill>
              </a:defRPr>
            </a:pPr>
            <a:r>
              <a:t>🗣️ PILLAR 2: Intent-Resilient Translator</a:t>
            </a:r>
          </a:p>
          <a:p>
            <a:pPr>
              <a:spcBef>
                <a:spcPts val="1200"/>
              </a:spcBef>
              <a:defRPr sz="1350">
                <a:solidFill>
                  <a:srgbClr val="F8FAFC"/>
                </a:solidFill>
              </a:defRPr>
            </a:pPr>
            <a:r>
              <a:t>- Dual Audio Ingestion: Real-time microphone listening via Web Audio API + Recorded audio file uploads (.wav, .mp3).</a:t>
            </a:r>
          </a:p>
          <a:p>
            <a:pPr>
              <a:spcBef>
                <a:spcPts val="1200"/>
              </a:spcBef>
              <a:defRPr sz="1350">
                <a:solidFill>
                  <a:srgbClr val="F8FAFC"/>
                </a:solidFill>
              </a:defRPr>
            </a:pPr>
            <a:r>
              <a:t>- Syllable-Drop Reconstruction: Recovers full intended sentence even when 30%-60% of syllables are dropped.</a:t>
            </a:r>
          </a:p>
          <a:p>
            <a:pPr>
              <a:spcBef>
                <a:spcPts val="1200"/>
              </a:spcBef>
              <a:defRPr sz="1350">
                <a:solidFill>
                  <a:srgbClr val="F8FAFC"/>
                </a:solidFill>
              </a:defRPr>
            </a:pPr>
            <a:r>
              <a:t>- Tri-Tier Reliability Guardrails: Color-coded reliability banner (High, Medium, Low) prevents medical miscommunication.</a:t>
            </a:r>
          </a:p>
          <a:p>
            <a:pPr>
              <a:spcBef>
                <a:spcPts val="1200"/>
              </a:spcBef>
              <a:defRPr sz="1350">
                <a:solidFill>
                  <a:srgbClr val="F8FAFC"/>
                </a:solidFill>
              </a:defRPr>
            </a:pPr>
            <a:r>
              <a:t>- Voice Output (TTS): Reconstructed clean text is vocalized aloud on behalf of the speech-impaired individual.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VOCALREHAB // SYSTEM ARCHITECTURE &amp;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Architecture: End-to-End Processing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71323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1. INPUT LAYER  —  Live Mic (Web Speech API) or Audio Upload (.wav, .mp3)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71323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2. ACOUSTIC GATING  —  Dynamic Energy Gating (150/100/50), Noise Calibration &amp; Normalization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698480" cy="71323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3. ASR EXTRACTION  —  Multi-hypothesis transcription generating 1-Best + N-Best candidates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71323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4. NLP INTENT ENGINE  —  Filler removal, multi-phonetic encoding &amp; confusion matrix scoring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71323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5. DUAL APPLICATION  —  Dispatches to Minimal-Pair Game Engine OR Voice Translator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698480" cy="71323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6. PERSISTENCE  —  Session logs, trial accuracy &amp; error matrices saved in SQLite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VOCALREHAB // SYSTEM ARCHITECTURE &amp;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Model Architecture: 5-Stage Robust NLU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Stage 1: Clinical Text Preprocessing</a:t>
            </a:r>
          </a:p>
          <a:p>
            <a:pPr>
              <a:spcBef>
                <a:spcPts val="300"/>
              </a:spcBef>
              <a:defRPr sz="1250">
                <a:solidFill>
                  <a:srgbClr val="F8FAFC"/>
                </a:solidFill>
              </a:defRPr>
            </a:pPr>
            <a:r>
              <a:t>Regex-based scrubbing of involuntary fillers ('um', 'uh', 'ah', 'er', 'eh') and punctuation normalization to isolate phonetic tokens.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Stage 2: Multi-Phonetic Signatures</a:t>
            </a:r>
          </a:p>
          <a:p>
            <a:pPr>
              <a:spcBef>
                <a:spcPts val="300"/>
              </a:spcBef>
              <a:defRPr sz="1250">
                <a:solidFill>
                  <a:srgbClr val="F8FAFC"/>
                </a:solidFill>
              </a:defRPr>
            </a:pPr>
            <a:r>
              <a:t>Computes tri-algorithmic phonetic codes simultaneously: Soundex (articulatory place), Double Metaphone (softening/fricatives), and NYSIIS (vowel position).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3756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Stage 3: Dysarthric Confusion Matrix</a:t>
            </a:r>
          </a:p>
          <a:p>
            <a:pPr>
              <a:spcBef>
                <a:spcPts val="300"/>
              </a:spcBef>
              <a:defRPr sz="1250">
                <a:solidFill>
                  <a:srgbClr val="F8FAFC"/>
                </a:solidFill>
              </a:defRPr>
            </a:pPr>
            <a:r>
              <a:t>Asymmetric cost overrides for clinically documented motor speech errors (e.g. voicing assimilation &amp; final consonant drops get 70% penalty reduction).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Stage 4: N-Best Hypothesis Fusion</a:t>
            </a:r>
          </a:p>
          <a:p>
            <a:pPr>
              <a:spcBef>
                <a:spcPts val="300"/>
              </a:spcBef>
              <a:defRPr sz="1250">
                <a:solidFill>
                  <a:srgbClr val="F8FAFC"/>
                </a:solidFill>
              </a:defRPr>
            </a:pPr>
            <a:r>
              <a:t>Recombines tokens across top-5 ASR alternatives using 103 clinical word repair rules (e.g. 'cah' -&gt; 'call', 'wah der' -&gt; 'water').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Stage 5: Phrase-Bank Overlap Re-ranking</a:t>
            </a:r>
          </a:p>
          <a:p>
            <a:pPr>
              <a:spcBef>
                <a:spcPts val="300"/>
              </a:spcBef>
              <a:defRPr sz="1250">
                <a:solidFill>
                  <a:srgbClr val="F8FAFC"/>
                </a:solidFill>
              </a:defRPr>
            </a:pPr>
            <a:r>
              <a:t>Bidirectional coverage matching against 68 essential Activities of Daily Living (ADL) phrases with confidence margin thresholding.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VOCALREHAB // SYSTEM ARCHITECTURE &amp;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Mathematical Formulation &amp; Asymmetric Cost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Mathematical Intent Scoring</a:t>
            </a:r>
          </a:p>
          <a:p>
            <a:pPr>
              <a:spcBef>
                <a:spcPts val="1000"/>
              </a:spcBef>
              <a:defRPr sz="1250">
                <a:solidFill>
                  <a:srgbClr val="F8FAFC"/>
                </a:solidFill>
              </a:defRPr>
            </a:pPr>
            <a:r>
              <a:t>Combined Similarity Function:</a:t>
            </a:r>
            <a:br/>
            <a:r>
              <a:t>Sim(c, t) = 0.25*SeqRatio + 0.20*PhoneticMatch + 0.30*ConfusionSim + 0.25*JaroWinkler</a:t>
            </a:r>
          </a:p>
          <a:p>
            <a:pPr>
              <a:spcBef>
                <a:spcPts val="1000"/>
              </a:spcBef>
              <a:defRPr sz="1250">
                <a:solidFill>
                  <a:srgbClr val="F8FAFC"/>
                </a:solidFill>
              </a:defRPr>
            </a:pPr>
            <a:r>
              <a:t>Confusion-Aware Distance:</a:t>
            </a:r>
            <a:br/>
            <a:r>
              <a:t>Cost(w1, w2) = 0.3 for dysarthric pair substitutions (default = 1.0).</a:t>
            </a:r>
            <a:br/>
            <a:r>
              <a:t>Cost_del = 0.5 for final consonant drops (default = 0.8).</a:t>
            </a:r>
          </a:p>
          <a:p>
            <a:pPr>
              <a:spcBef>
                <a:spcPts val="1000"/>
              </a:spcBef>
              <a:defRPr sz="1250">
                <a:solidFill>
                  <a:srgbClr val="F8FAFC"/>
                </a:solidFill>
              </a:defRPr>
            </a:pPr>
            <a:r>
              <a:t>Confidence &amp; Margin Separation:</a:t>
            </a:r>
            <a:br/>
            <a:r>
              <a:t>Confidence = min(1.0, Score(t1)*0.6 + (Score(t1) - Score(t2))*2.0)</a:t>
            </a:r>
          </a:p>
          <a:p>
            <a:pPr>
              <a:spcBef>
                <a:spcPts val="1000"/>
              </a:spcBef>
              <a:defRPr sz="1250">
                <a:solidFill>
                  <a:srgbClr val="F8FAFC"/>
                </a:solidFill>
              </a:defRPr>
            </a:pPr>
            <a:r>
              <a:t>Phrase Overlap Metric:</a:t>
            </a:r>
            <a:br/>
            <a:r>
              <a:t>Score = 0.7 * Coverage(Phrase) + 0.3 * MatchRatio(Candidate)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9488"/>
                </a:solidFill>
              </a:defRPr>
            </a:pPr>
            <a:r>
              <a:t>Clinical Dysarthric Substitutions</a:t>
            </a:r>
          </a:p>
          <a:p>
            <a:pPr>
              <a:spcBef>
                <a:spcPts val="1000"/>
              </a:spcBef>
              <a:defRPr sz="1250">
                <a:solidFill>
                  <a:srgbClr val="F8FAFC"/>
                </a:solidFill>
              </a:defRPr>
            </a:pPr>
            <a:r>
              <a:t>Voicing Assimilation (/b/ &lt;-&gt; /p/, /d/ &lt;-&gt; /t/):</a:t>
            </a:r>
            <a:br/>
            <a:r>
              <a:t>Vocal cord timing lag causes voiced stops to unvoice.</a:t>
            </a:r>
          </a:p>
          <a:p>
            <a:pPr>
              <a:spcBef>
                <a:spcPts val="1000"/>
              </a:spcBef>
              <a:defRPr sz="1250">
                <a:solidFill>
                  <a:srgbClr val="F8FAFC"/>
                </a:solidFill>
              </a:defRPr>
            </a:pPr>
            <a:r>
              <a:t>Spirantization (/t/ -&gt; /s/, /d/ -&gt; /z/):</a:t>
            </a:r>
            <a:br/>
            <a:r>
              <a:t>Incomplete tongue closure produces fricatives instead of stops.</a:t>
            </a:r>
          </a:p>
          <a:p>
            <a:pPr>
              <a:spcBef>
                <a:spcPts val="1000"/>
              </a:spcBef>
              <a:defRPr sz="1250">
                <a:solidFill>
                  <a:srgbClr val="F8FAFC"/>
                </a:solidFill>
              </a:defRPr>
            </a:pPr>
            <a:r>
              <a:t>Liquid Gliding (/r/ -&gt; /w/, /l/ -&gt; /y/):</a:t>
            </a:r>
            <a:br/>
            <a:r>
              <a:t>Tongue blade motor weakness replaces liquids with glides.</a:t>
            </a:r>
          </a:p>
          <a:p>
            <a:pPr>
              <a:spcBef>
                <a:spcPts val="1000"/>
              </a:spcBef>
              <a:defRPr sz="1250">
                <a:solidFill>
                  <a:srgbClr val="F8FAFC"/>
                </a:solidFill>
              </a:defRPr>
            </a:pPr>
            <a:r>
              <a:t>Final Consonant Deletion (cat -&gt; ca):</a:t>
            </a:r>
            <a:br/>
            <a:r>
              <a:t>Expiratory airflow runs out at end of syllables.</a:t>
            </a:r>
          </a:p>
          <a:p>
            <a:pPr>
              <a:spcBef>
                <a:spcPts val="1000"/>
              </a:spcBef>
              <a:defRPr sz="1250">
                <a:solidFill>
                  <a:srgbClr val="F8FAFC"/>
                </a:solidFill>
              </a:defRPr>
            </a:pPr>
            <a:r>
              <a:t>Vowel Laxing (/iy/ -&gt; /ih/):</a:t>
            </a:r>
            <a:br/>
            <a:r>
              <a:t>Reduced articulatory range collapses tense vowels (sheep -&gt; ship).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VOCALREHAB // SYSTEM ARCHITECTURE &amp;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Therapy Engine: Minimal-Pair Curriculum &amp; Biofeedback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192 Minimal Pairs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Categorized across 8 clinical contrast categories: Voicing, Final Deletion, Fronting, Stopping, Gliding, Clusters, Vowels, and Nasals.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Adaptive Difficulty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Automatically adapts difficulty levels 1 through 3 based on user accuracy over moving 5-trial windows.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Anatomical Biofeedback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Generates natural language placement tips (e.g. 'Press lips firmly together', 'Bite lower lip gently') to guide motor recovery.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4048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A855F7"/>
                </a:solidFill>
              </a:defRPr>
            </a:pPr>
            <a:r>
              <a:t>Longitudinal Tracking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Tracks specific phoneme confusion trends across sessions, giving speech therapists detailed error diagnostics.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VOCALREHAB // SYSTEM ARCHITECTURE &amp;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Voice Translation Pipeline &amp; Clinical Reliability Guardrails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Multi-Strategy Audio Ingestion Pipeline</a:t>
            </a:r>
          </a:p>
          <a:p>
            <a:pPr>
              <a:spcBef>
                <a:spcPts val="500"/>
              </a:spcBef>
              <a:defRPr sz="1300">
                <a:solidFill>
                  <a:srgbClr val="F8FAFC"/>
                </a:solidFill>
              </a:defRPr>
            </a:pPr>
            <a:r>
              <a:t>- Step 1: Multi-strategy recognition tries standard threshold (150), followed by aggressive dysarthric thresholds (100, 50).</a:t>
            </a:r>
          </a:p>
          <a:p>
            <a:pPr>
              <a:spcBef>
                <a:spcPts val="500"/>
              </a:spcBef>
              <a:defRPr sz="1300">
                <a:solidFill>
                  <a:srgbClr val="F8FAFC"/>
                </a:solidFill>
              </a:defRPr>
            </a:pPr>
            <a:r>
              <a:t>- Step 2: Dynamic pause threshold extended to 2.5 seconds to accommodate slow speech rates and breath pauses.</a:t>
            </a:r>
          </a:p>
          <a:p>
            <a:pPr>
              <a:spcBef>
                <a:spcPts val="500"/>
              </a:spcBef>
              <a:defRPr sz="1300">
                <a:solidFill>
                  <a:srgbClr val="F8FAFC"/>
                </a:solidFill>
              </a:defRPr>
            </a:pPr>
            <a:r>
              <a:t>- Step 3: Fallback audio normalization &amp; volume boost (+10 dB) via pydub recovers low-intensity, breathy recordings.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34290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🟢 High Confidence (&gt;= 70%)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Confident phrase match from clinical index. Safe for immediate autonomous communication.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3749039"/>
            <a:ext cx="34290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🔵 Medium Confidence (55% - 69%)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Probable match. User visual confirmation advised before vocalization.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3749039"/>
            <a:ext cx="34290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🔴 Low Confidence (&lt; 55%)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Severe distortion. System switches to literal word-repair and displays a warning banner.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VOCALREHAB // SYSTEM ARCHITECTURE &amp;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Experimental Results: Benchmark Across 5 Severity Levels (N=50)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Benchmark Accuracy by Severity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- 0% Slurred (Clear Baseline): 10 / 10 (100% Accuracy)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- 40% Slurred (Mild Dysarthria): 10 / 10 (100% Accuracy)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- 60% Slurred (Moderate Dysarthria): 10 / 10 (100% Accuracy)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- 80% Slurred (Severe Dysarthria): 9 / 10 (90% Accuracy)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- 100% Slurred (Extreme Dysarthria): 5 / 10 (50% Accuracy + Warning Banner)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- OVERALL SYSTEM ACCURACY: 44 / 50 (88.0% Accuracy)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Real Recovery Cases (Extreme Slur)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Raw ASR: 'I want to go hotel'</a:t>
            </a:r>
            <a:br/>
            <a:r>
              <a:t>  -&gt; NLP Translation: 'I want to go home today' [OK]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Raw ASR: 'do you for having me'</a:t>
            </a:r>
            <a:br/>
            <a:r>
              <a:t>  -&gt; NLP Translation: 'Thank you for helping me' [OK]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Raw ASR: 'right right for my version'</a:t>
            </a:r>
            <a:br/>
            <a:r>
              <a:t>  -&gt; NLP Translation: 'Is it time for my medicine' [OK]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Raw ASR: 'C A H U Honours in May'</a:t>
            </a:r>
            <a:br/>
            <a:r>
              <a:t>  -&gt; NLP Translation: 'Can you understand me' [OK]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Raw ASR: 'what's the time for my medicin'</a:t>
            </a:r>
            <a:br/>
            <a:r>
              <a:t>  -&gt; NLP Translation: 'Is it time for my medicine' [OK]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VOCALREHAB // SYSTEM ARCHITECTURE &amp;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Conclusion, Future Roadmap &amp; Open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Key Contributions</a:t>
            </a:r>
          </a:p>
          <a:p>
            <a:pPr>
              <a:spcBef>
                <a:spcPts val="1200"/>
              </a:spcBef>
              <a:defRPr sz="1350">
                <a:solidFill>
                  <a:srgbClr val="F8FAFC"/>
                </a:solidFill>
              </a:defRPr>
            </a:pPr>
            <a:r>
              <a:t>- Built a clinically grounded NLP system achieving 88% intent recovery on dysarthric speech.</a:t>
            </a:r>
          </a:p>
          <a:p>
            <a:pPr>
              <a:spcBef>
                <a:spcPts val="1200"/>
              </a:spcBef>
              <a:defRPr sz="1350">
                <a:solidFill>
                  <a:srgbClr val="F8FAFC"/>
                </a:solidFill>
              </a:defRPr>
            </a:pPr>
            <a:r>
              <a:t>- Integrated dual-modality: Gamified minimal-pair biofeedback + Assistive Voice Translator.</a:t>
            </a:r>
          </a:p>
          <a:p>
            <a:pPr>
              <a:spcBef>
                <a:spcPts val="1200"/>
              </a:spcBef>
              <a:defRPr sz="1350">
                <a:solidFill>
                  <a:srgbClr val="F8FAFC"/>
                </a:solidFill>
              </a:defRPr>
            </a:pPr>
            <a:r>
              <a:t>- Designed an asymmetric dysarthric confusion matrix that outperforms off-the-shelf commercial ASR.</a:t>
            </a:r>
          </a:p>
          <a:p>
            <a:pPr>
              <a:spcBef>
                <a:spcPts val="1200"/>
              </a:spcBef>
              <a:defRPr sz="1350">
                <a:solidFill>
                  <a:srgbClr val="F8FAFC"/>
                </a:solidFill>
              </a:defRPr>
            </a:pPr>
            <a:r>
              <a:t>- Provides open-source, zero-cost tele-rehabilitation accessible from any modern web browser.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Future Roadmap &amp; Repository</a:t>
            </a:r>
          </a:p>
          <a:p>
            <a:pPr>
              <a:spcBef>
                <a:spcPts val="1200"/>
              </a:spcBef>
              <a:defRPr sz="1350">
                <a:solidFill>
                  <a:srgbClr val="F8FAFC"/>
                </a:solidFill>
              </a:defRPr>
            </a:pPr>
            <a:r>
              <a:t>- Edge Whisper ASR: Fine-tune Whisper-Small on the TORGO and UASpeech clinical dysarthria datasets.</a:t>
            </a:r>
          </a:p>
          <a:p>
            <a:pPr>
              <a:spcBef>
                <a:spcPts val="1200"/>
              </a:spcBef>
              <a:defRPr sz="1350">
                <a:solidFill>
                  <a:srgbClr val="F8FAFC"/>
                </a:solidFill>
              </a:defRPr>
            </a:pPr>
            <a:r>
              <a:t>- Clinician Portal: Remote dashboard for speech-language pathologists (SLPs) to prescribe target pairs.</a:t>
            </a:r>
          </a:p>
          <a:p>
            <a:pPr>
              <a:spcBef>
                <a:spcPts val="1200"/>
              </a:spcBef>
              <a:defRPr sz="1350">
                <a:solidFill>
                  <a:srgbClr val="F8FAFC"/>
                </a:solidFill>
              </a:defRPr>
            </a:pPr>
            <a:r>
              <a:t>- Multilingual Expansion: Extend confusion matrix to regional Indian languages (Hindi, Tamil, Telugu).</a:t>
            </a:r>
          </a:p>
          <a:p>
            <a:pPr>
              <a:spcBef>
                <a:spcPts val="1200"/>
              </a:spcBef>
              <a:defRPr sz="1350">
                <a:solidFill>
                  <a:srgbClr val="F8FAFC"/>
                </a:solidFill>
              </a:defRPr>
            </a:pPr>
            <a:r>
              <a:t>- Project GitHub: https://github.com/ts3363/VocalRehab</a:t>
            </a:r>
          </a:p>
          <a:p>
            <a:pPr>
              <a:spcBef>
                <a:spcPts val="1200"/>
              </a:spcBef>
              <a:defRPr sz="1350">
                <a:solidFill>
                  <a:srgbClr val="F8FAFC"/>
                </a:solidFill>
              </a:defRPr>
            </a:pPr>
            <a:r>
              <a:t>- Thank you! Open for Questions &amp;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